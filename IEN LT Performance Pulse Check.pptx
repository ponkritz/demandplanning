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1" r:id="rId7"/>
  </p:sldMasterIdLst>
  <p:notesMasterIdLst>
    <p:notesMasterId r:id="rId10"/>
  </p:notesMasterIdLst>
  <p:handoutMasterIdLst>
    <p:handoutMasterId r:id="rId11"/>
  </p:handoutMasterIdLst>
  <p:sldIdLst>
    <p:sldId id="2147482539" r:id="rId8"/>
    <p:sldId id="2147482540" r:id="rId9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2147482539"/>
            <p14:sldId id="21474825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6A56B7C9-A8CB-75F9-3017-DD6057DD8B63}" name="Woo, Melissa" initials="MW" userId="S::melissa.holmes@philips.com::09bebeae-4b81-4849-a84b-0c14501e87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25" dt="2026-09-19T21:35:12.334"/>
    <p1510:client id="{0E960B95-BA4E-7E4F-AADB-FF93DC4B226E}" v="722" dt="2026-09-19T21:42:18.196"/>
    <p1510:client id="{55895509-65F4-43BC-B049-F5D375EBB7A8}" v="7" dt="2026-09-19T14:17:38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45"/>
  </p:normalViewPr>
  <p:slideViewPr>
    <p:cSldViewPr snapToGrid="0">
      <p:cViewPr varScale="1">
        <p:scale>
          <a:sx n="151" d="100"/>
          <a:sy n="151" d="100"/>
        </p:scale>
        <p:origin x="144" y="2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10/30/2026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List item</a:t>
            </a:r>
          </a:p>
          <a:p>
            <a:pPr lvl="1"/>
            <a:r>
              <a:rPr lang="en-US"/>
              <a:t>List item</a:t>
            </a:r>
          </a:p>
          <a:p>
            <a:pPr lvl="2"/>
            <a:r>
              <a:rPr lang="en-US"/>
              <a:t>List item</a:t>
            </a:r>
          </a:p>
          <a:p>
            <a:pPr lvl="3"/>
            <a:r>
              <a:rPr lang="en-US"/>
              <a:t>List item</a:t>
            </a:r>
          </a:p>
          <a:p>
            <a:pPr lvl="4"/>
            <a:r>
              <a:rPr lang="en-US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/>
              <a:t>Type your headline here </a:t>
            </a:r>
            <a:br>
              <a:rPr lang="en-US"/>
            </a:br>
            <a:r>
              <a:rPr lang="en-US"/>
              <a:t>(ex: Agenda)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Date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Meeting/Event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Philips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White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Light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Dark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Philips blue divider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/>
              <a:t>White divider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/>
              <a:t>Light blue divider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Dark blue divider</a:t>
            </a:r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63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Type your slide headline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02C94-33CD-D1CE-02FF-FB1D35E386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  <p:sldLayoutId id="2147484084" r:id="rId34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067C-E301-2D99-B9B3-5CB75AFC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07E6E6-D990-2915-F783-D75E271C72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163908-529D-4A49-892F-D37C4044DFD8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D51A1E-B5FA-C24E-B86A-34AC1D52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321" y="61722"/>
            <a:ext cx="8138160" cy="719137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Department name| Performance Pulse update</a:t>
            </a:r>
            <a:br>
              <a:rPr lang="en-US" b="1" dirty="0"/>
            </a:br>
            <a:r>
              <a:rPr lang="en-US" sz="1200" b="1" dirty="0"/>
              <a:t>September 2026 Update</a:t>
            </a:r>
            <a:endParaRPr lang="en-US" b="1" dirty="0">
              <a:cs typeface="Calibri Ligh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14BB5ED-C2FB-BDC7-5BD8-076D64623ACA}"/>
              </a:ext>
            </a:extLst>
          </p:cNvPr>
          <p:cNvSpPr/>
          <p:nvPr/>
        </p:nvSpPr>
        <p:spPr>
          <a:xfrm>
            <a:off x="192024" y="651510"/>
            <a:ext cx="8677656" cy="768096"/>
          </a:xfrm>
          <a:prstGeom prst="roundRect">
            <a:avLst>
              <a:gd name="adj" fmla="val 3571"/>
            </a:avLst>
          </a:prstGeom>
          <a:solidFill>
            <a:srgbClr val="F6FAFF"/>
          </a:solidFill>
          <a:ln w="12700">
            <a:solidFill>
              <a:srgbClr val="77A2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2EAA904-FB70-59F4-90F5-442A2B7B2F11}"/>
              </a:ext>
            </a:extLst>
          </p:cNvPr>
          <p:cNvSpPr/>
          <p:nvPr/>
        </p:nvSpPr>
        <p:spPr>
          <a:xfrm>
            <a:off x="342900" y="777323"/>
            <a:ext cx="589788" cy="589788"/>
          </a:xfrm>
          <a:prstGeom prst="ellipse">
            <a:avLst/>
          </a:prstGeom>
          <a:solidFill>
            <a:srgbClr val="0047C7"/>
          </a:solidFill>
          <a:ln w="12700">
            <a:solidFill>
              <a:srgbClr val="0047C7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A35EF24-ABFD-3A96-9E59-E79BEB40A70A}"/>
              </a:ext>
            </a:extLst>
          </p:cNvPr>
          <p:cNvSpPr/>
          <p:nvPr/>
        </p:nvSpPr>
        <p:spPr>
          <a:xfrm>
            <a:off x="342900" y="774954"/>
            <a:ext cx="589788" cy="57607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Arial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64730C8-ACBC-AC50-B97E-7AB05B8A2DA2}"/>
              </a:ext>
            </a:extLst>
          </p:cNvPr>
          <p:cNvSpPr/>
          <p:nvPr/>
        </p:nvSpPr>
        <p:spPr>
          <a:xfrm>
            <a:off x="1083564" y="754380"/>
            <a:ext cx="0" cy="562356"/>
          </a:xfrm>
          <a:prstGeom prst="line">
            <a:avLst/>
          </a:prstGeom>
          <a:noFill/>
          <a:ln w="12700">
            <a:solidFill>
              <a:srgbClr val="77A2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A9F7B93-00B1-A362-B429-F7FE2E2F7D4E}"/>
              </a:ext>
            </a:extLst>
          </p:cNvPr>
          <p:cNvSpPr/>
          <p:nvPr/>
        </p:nvSpPr>
        <p:spPr>
          <a:xfrm>
            <a:off x="1275588" y="768096"/>
            <a:ext cx="891540" cy="13716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47C7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SUMMARY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1B6DB48-1264-F9B7-3912-91827E86D3B1}"/>
              </a:ext>
            </a:extLst>
          </p:cNvPr>
          <p:cNvSpPr/>
          <p:nvPr/>
        </p:nvSpPr>
        <p:spPr>
          <a:xfrm>
            <a:off x="1275588" y="980365"/>
            <a:ext cx="5291275" cy="37648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900" dirty="0">
                <a:solidFill>
                  <a:srgbClr val="050A5F"/>
                </a:solidFill>
                <a:ea typeface="+mn-lt"/>
                <a:cs typeface="+mn-lt"/>
              </a:rPr>
              <a:t>Actual utilization eased to 107.5% in August. Capacity remains stretched alongside platform, serviceability , PPU and validation delivery. AI Competency Developed through completion of AI Ninja White Belt at 63%.</a:t>
            </a:r>
            <a:endParaRPr lang="en-US" dirty="0">
              <a:cs typeface="Calibri"/>
            </a:endParaRPr>
          </a:p>
          <a:p>
            <a:pPr marL="0" marR="0" lvl="0" indent="0" algn="l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050A5F"/>
              </a:solidFill>
              <a:effectLst/>
              <a:uLnTx/>
              <a:uFillTx/>
              <a:latin typeface="Calibri"/>
              <a:ea typeface="Yu Gothic"/>
              <a:cs typeface="Arial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4C1E67EC-B103-F574-6E5F-2B0273A03D33}"/>
              </a:ext>
            </a:extLst>
          </p:cNvPr>
          <p:cNvSpPr/>
          <p:nvPr/>
        </p:nvSpPr>
        <p:spPr>
          <a:xfrm>
            <a:off x="6757952" y="720362"/>
            <a:ext cx="0" cy="562356"/>
          </a:xfrm>
          <a:prstGeom prst="line">
            <a:avLst/>
          </a:prstGeom>
          <a:noFill/>
          <a:ln w="12700">
            <a:solidFill>
              <a:srgbClr val="77A2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CBE423B-0756-874F-1C83-2A116146E6C1}"/>
              </a:ext>
            </a:extLst>
          </p:cNvPr>
          <p:cNvSpPr/>
          <p:nvPr/>
        </p:nvSpPr>
        <p:spPr>
          <a:xfrm>
            <a:off x="7334351" y="774954"/>
            <a:ext cx="891540" cy="13716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47C7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OVERALL STATUS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83264B6C-884E-2DAF-6D8F-5ED2B2A4FF76}"/>
              </a:ext>
            </a:extLst>
          </p:cNvPr>
          <p:cNvSpPr/>
          <p:nvPr/>
        </p:nvSpPr>
        <p:spPr>
          <a:xfrm>
            <a:off x="7224623" y="980694"/>
            <a:ext cx="274320" cy="274320"/>
          </a:xfrm>
          <a:prstGeom prst="ellipse">
            <a:avLst/>
          </a:prstGeom>
          <a:solidFill>
            <a:srgbClr val="0E7A11"/>
          </a:solidFill>
          <a:ln w="12700">
            <a:solidFill>
              <a:srgbClr val="0E7A1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E1DBC023-E0B9-23B4-BE64-7B7FC8B2CF4E}"/>
              </a:ext>
            </a:extLst>
          </p:cNvPr>
          <p:cNvSpPr/>
          <p:nvPr/>
        </p:nvSpPr>
        <p:spPr>
          <a:xfrm>
            <a:off x="7224623" y="987552"/>
            <a:ext cx="274320" cy="26060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85" name="Text 49">
            <a:extLst>
              <a:ext uri="{FF2B5EF4-FFF2-40B4-BE49-F238E27FC236}">
                <a16:creationId xmlns:a16="http://schemas.microsoft.com/office/drawing/2014/main" id="{11037F3E-78E1-BD9E-5D00-D72B9E97708D}"/>
              </a:ext>
            </a:extLst>
          </p:cNvPr>
          <p:cNvSpPr/>
          <p:nvPr/>
        </p:nvSpPr>
        <p:spPr>
          <a:xfrm>
            <a:off x="342900" y="3884462"/>
            <a:ext cx="397764" cy="38404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79" name="Shape 46">
            <a:extLst>
              <a:ext uri="{FF2B5EF4-FFF2-40B4-BE49-F238E27FC236}">
                <a16:creationId xmlns:a16="http://schemas.microsoft.com/office/drawing/2014/main" id="{443B962A-2713-E9D4-C95C-6308A8F9B429}"/>
              </a:ext>
            </a:extLst>
          </p:cNvPr>
          <p:cNvSpPr/>
          <p:nvPr/>
        </p:nvSpPr>
        <p:spPr>
          <a:xfrm>
            <a:off x="192024" y="3548420"/>
            <a:ext cx="4297680" cy="1252968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81" name="Text 47">
            <a:extLst>
              <a:ext uri="{FF2B5EF4-FFF2-40B4-BE49-F238E27FC236}">
                <a16:creationId xmlns:a16="http://schemas.microsoft.com/office/drawing/2014/main" id="{EFDFD1DE-3EA9-07FD-3542-6795F00CA936}"/>
              </a:ext>
            </a:extLst>
          </p:cNvPr>
          <p:cNvSpPr/>
          <p:nvPr/>
        </p:nvSpPr>
        <p:spPr>
          <a:xfrm>
            <a:off x="192024" y="3548420"/>
            <a:ext cx="4297680" cy="219456"/>
          </a:xfrm>
          <a:prstGeom prst="round2SameRect">
            <a:avLst/>
          </a:prstGeom>
          <a:solidFill>
            <a:schemeClr val="accent1"/>
          </a:solidFill>
          <a:ln w="6350">
            <a:solidFill>
              <a:srgbClr val="4B20B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LEADERSHIP SUPPORT REQUESTED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83" name="Shape 48">
            <a:extLst>
              <a:ext uri="{FF2B5EF4-FFF2-40B4-BE49-F238E27FC236}">
                <a16:creationId xmlns:a16="http://schemas.microsoft.com/office/drawing/2014/main" id="{5390B6BD-39BE-FCA5-F7FA-6D3EB22B32A0}"/>
              </a:ext>
            </a:extLst>
          </p:cNvPr>
          <p:cNvSpPr/>
          <p:nvPr/>
        </p:nvSpPr>
        <p:spPr>
          <a:xfrm>
            <a:off x="358483" y="3959244"/>
            <a:ext cx="397764" cy="414134"/>
          </a:xfrm>
          <a:prstGeom prst="ellipse">
            <a:avLst/>
          </a:prstGeom>
          <a:solidFill>
            <a:srgbClr val="D7E5FF"/>
          </a:solidFill>
          <a:ln w="12700">
            <a:solidFill>
              <a:srgbClr val="E9E0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87" name="Text 50">
            <a:extLst>
              <a:ext uri="{FF2B5EF4-FFF2-40B4-BE49-F238E27FC236}">
                <a16:creationId xmlns:a16="http://schemas.microsoft.com/office/drawing/2014/main" id="{24C9FDBE-49F6-A081-8965-9219112EDF7A}"/>
              </a:ext>
            </a:extLst>
          </p:cNvPr>
          <p:cNvSpPr/>
          <p:nvPr/>
        </p:nvSpPr>
        <p:spPr>
          <a:xfrm>
            <a:off x="847410" y="3927103"/>
            <a:ext cx="3597102" cy="716661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180975" marR="0" lvl="0" indent="-18097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X</a:t>
            </a:r>
          </a:p>
          <a:p>
            <a:pPr marL="180975" marR="0" lvl="0" indent="-18097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800">
                <a:solidFill>
                  <a:srgbClr val="050A5F"/>
                </a:solidFill>
                <a:latin typeface="Calibri"/>
                <a:ea typeface="Arial" pitchFamily="34" charset="-122"/>
                <a:cs typeface="Arial" pitchFamily="34" charset="-120"/>
              </a:rPr>
              <a:t>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126E"/>
              </a:solidFill>
              <a:effectLst/>
              <a:uLnTx/>
              <a:uFillTx/>
              <a:latin typeface="Calibri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4" name="Graphic 3" descr="Bullseye with solid fill">
            <a:extLst>
              <a:ext uri="{FF2B5EF4-FFF2-40B4-BE49-F238E27FC236}">
                <a16:creationId xmlns:a16="http://schemas.microsoft.com/office/drawing/2014/main" id="{441BEC78-E6B6-D2DC-577F-4CD6B13D5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815631"/>
            <a:ext cx="513172" cy="513172"/>
          </a:xfrm>
          <a:prstGeom prst="rect">
            <a:avLst/>
          </a:prstGeom>
        </p:spPr>
      </p:pic>
      <p:sp>
        <p:nvSpPr>
          <p:cNvPr id="35" name="Text 19">
            <a:extLst>
              <a:ext uri="{FF2B5EF4-FFF2-40B4-BE49-F238E27FC236}">
                <a16:creationId xmlns:a16="http://schemas.microsoft.com/office/drawing/2014/main" id="{E7E38773-6810-31A2-41FA-9F9B38F9AD0F}"/>
              </a:ext>
            </a:extLst>
          </p:cNvPr>
          <p:cNvSpPr/>
          <p:nvPr/>
        </p:nvSpPr>
        <p:spPr>
          <a:xfrm>
            <a:off x="308610" y="2121021"/>
            <a:ext cx="397764" cy="384048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EB47842F-DFC0-15B3-ECB0-B955A1D45D18}"/>
              </a:ext>
            </a:extLst>
          </p:cNvPr>
          <p:cNvSpPr/>
          <p:nvPr/>
        </p:nvSpPr>
        <p:spPr>
          <a:xfrm>
            <a:off x="301752" y="2983230"/>
            <a:ext cx="2763774" cy="0"/>
          </a:xfrm>
          <a:prstGeom prst="line">
            <a:avLst/>
          </a:prstGeom>
          <a:noFill/>
          <a:ln w="12700">
            <a:solidFill>
              <a:srgbClr val="CBDD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443467C8-812F-00A8-9E59-08BB4C85C61F}"/>
              </a:ext>
            </a:extLst>
          </p:cNvPr>
          <p:cNvSpPr/>
          <p:nvPr/>
        </p:nvSpPr>
        <p:spPr>
          <a:xfrm>
            <a:off x="0" y="4877768"/>
            <a:ext cx="9144000" cy="269516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20" name="f-ic">
            <a:extLst>
              <a:ext uri="{FF2B5EF4-FFF2-40B4-BE49-F238E27FC236}">
                <a16:creationId xmlns:a16="http://schemas.microsoft.com/office/drawing/2014/main" id="{304A3DDB-9D66-5436-87EE-66BD92A02E1C}"/>
              </a:ext>
            </a:extLst>
          </p:cNvPr>
          <p:cNvSpPr/>
          <p:nvPr/>
        </p:nvSpPr>
        <p:spPr>
          <a:xfrm>
            <a:off x="150000" y="4923244"/>
            <a:ext cx="190000" cy="19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24" name="f-right">
            <a:extLst>
              <a:ext uri="{FF2B5EF4-FFF2-40B4-BE49-F238E27FC236}">
                <a16:creationId xmlns:a16="http://schemas.microsoft.com/office/drawing/2014/main" id="{4613A641-B7B9-8EC6-4F62-90D698B7BB96}"/>
              </a:ext>
            </a:extLst>
          </p:cNvPr>
          <p:cNvSpPr txBox="1"/>
          <p:nvPr/>
        </p:nvSpPr>
        <p:spPr>
          <a:xfrm>
            <a:off x="6700000" y="4846494"/>
            <a:ext cx="2304000" cy="343500"/>
          </a:xfrm>
          <a:prstGeom prst="rect">
            <a:avLst/>
          </a:prstGeom>
          <a:noFill/>
        </p:spPr>
        <p:txBody>
          <a:bodyPr wrap="square" lIns="0" tIns="0" rIns="60000" bIns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Yu Gothic"/>
                <a:cs typeface="+mn-cs"/>
              </a:rPr>
              <a:t>Confidential - Internal Use Only</a:t>
            </a:r>
          </a:p>
        </p:txBody>
      </p:sp>
      <p:sp>
        <p:nvSpPr>
          <p:cNvPr id="12" name="f-left">
            <a:extLst>
              <a:ext uri="{FF2B5EF4-FFF2-40B4-BE49-F238E27FC236}">
                <a16:creationId xmlns:a16="http://schemas.microsoft.com/office/drawing/2014/main" id="{53FA46E7-912C-6BE8-5D6F-88B339F45DE8}"/>
              </a:ext>
            </a:extLst>
          </p:cNvPr>
          <p:cNvSpPr txBox="1"/>
          <p:nvPr/>
        </p:nvSpPr>
        <p:spPr>
          <a:xfrm>
            <a:off x="420000" y="4846494"/>
            <a:ext cx="5800000" cy="343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Yu Gothic"/>
                <a:cs typeface="+mn-cs"/>
              </a:rPr>
              <a:t>Supporting BUs to convert innovation into growth impact more reliably and efficiently</a:t>
            </a:r>
          </a:p>
        </p:txBody>
      </p:sp>
      <p:pic>
        <p:nvPicPr>
          <p:cNvPr id="26" name="Graphic 25" descr="Users with solid fill">
            <a:extLst>
              <a:ext uri="{FF2B5EF4-FFF2-40B4-BE49-F238E27FC236}">
                <a16:creationId xmlns:a16="http://schemas.microsoft.com/office/drawing/2014/main" id="{C45C7CF4-A86D-BEBD-4D71-CF4410E604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205" y="4020966"/>
            <a:ext cx="274320" cy="274320"/>
          </a:xfrm>
          <a:prstGeom prst="rect">
            <a:avLst/>
          </a:prstGeom>
        </p:spPr>
      </p:pic>
      <p:pic>
        <p:nvPicPr>
          <p:cNvPr id="36" name="Graphic 35" descr="Users with solid fill">
            <a:extLst>
              <a:ext uri="{FF2B5EF4-FFF2-40B4-BE49-F238E27FC236}">
                <a16:creationId xmlns:a16="http://schemas.microsoft.com/office/drawing/2014/main" id="{AF1EB5E8-4F90-7772-B5AA-8F9EBB881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6" y="4920093"/>
            <a:ext cx="182880" cy="182880"/>
          </a:xfrm>
          <a:prstGeom prst="rect">
            <a:avLst/>
          </a:prstGeom>
        </p:spPr>
      </p:pic>
      <p:sp>
        <p:nvSpPr>
          <p:cNvPr id="63" name="Shape 38">
            <a:extLst>
              <a:ext uri="{FF2B5EF4-FFF2-40B4-BE49-F238E27FC236}">
                <a16:creationId xmlns:a16="http://schemas.microsoft.com/office/drawing/2014/main" id="{12F0D170-4226-220C-CF92-202E7DF95BB2}"/>
              </a:ext>
            </a:extLst>
          </p:cNvPr>
          <p:cNvSpPr/>
          <p:nvPr/>
        </p:nvSpPr>
        <p:spPr>
          <a:xfrm>
            <a:off x="6752922" y="1484755"/>
            <a:ext cx="2116758" cy="2001263"/>
          </a:xfrm>
          <a:prstGeom prst="roundRect">
            <a:avLst>
              <a:gd name="adj" fmla="val 1250"/>
            </a:avLst>
          </a:prstGeom>
          <a:solidFill>
            <a:srgbClr val="F6FAFF"/>
          </a:solidFill>
          <a:ln w="12700">
            <a:solidFill>
              <a:srgbClr val="77A2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65" name="Text 39">
            <a:extLst>
              <a:ext uri="{FF2B5EF4-FFF2-40B4-BE49-F238E27FC236}">
                <a16:creationId xmlns:a16="http://schemas.microsoft.com/office/drawing/2014/main" id="{D19ED5FE-3BFD-FB57-02A8-5B73540BDD97}"/>
              </a:ext>
            </a:extLst>
          </p:cNvPr>
          <p:cNvSpPr/>
          <p:nvPr/>
        </p:nvSpPr>
        <p:spPr>
          <a:xfrm>
            <a:off x="6752922" y="1484755"/>
            <a:ext cx="2116758" cy="235029"/>
          </a:xfrm>
          <a:prstGeom prst="round2SameRect">
            <a:avLst/>
          </a:prstGeom>
          <a:solidFill>
            <a:srgbClr val="0047C7"/>
          </a:solidFill>
          <a:ln w="6350">
            <a:solidFill>
              <a:srgbClr val="0047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RISKS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69" name="Text 41">
            <a:extLst>
              <a:ext uri="{FF2B5EF4-FFF2-40B4-BE49-F238E27FC236}">
                <a16:creationId xmlns:a16="http://schemas.microsoft.com/office/drawing/2014/main" id="{28E5C9D5-C6BC-AB8D-06E7-8C63B6FBDD03}"/>
              </a:ext>
            </a:extLst>
          </p:cNvPr>
          <p:cNvSpPr/>
          <p:nvPr/>
        </p:nvSpPr>
        <p:spPr>
          <a:xfrm>
            <a:off x="6818450" y="2037273"/>
            <a:ext cx="2016939" cy="1215021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Risks:</a:t>
            </a: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Yu Gothic"/>
                <a:cs typeface="Arial" pitchFamily="34" charset="-120"/>
              </a:rPr>
              <a:t>X</a:t>
            </a: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050A5F"/>
                </a:solidFill>
                <a:latin typeface="Calibri"/>
                <a:ea typeface="Yu Gothic"/>
                <a:cs typeface="Arial" pitchFamily="34" charset="-120"/>
              </a:rPr>
              <a:t>X</a:t>
            </a: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Yu Gothic"/>
                <a:cs typeface="Arial" pitchFamily="34" charset="-120"/>
              </a:rPr>
              <a:t>X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50A5F"/>
              </a:solidFill>
              <a:effectLst/>
              <a:uLnTx/>
              <a:uFillTx/>
              <a:latin typeface="Calibri"/>
              <a:ea typeface="Arial" pitchFamily="34" charset="-122"/>
              <a:cs typeface="Arial" pitchFamily="34" charset="-12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50A5F"/>
              </a:solidFill>
              <a:effectLst/>
              <a:uLnTx/>
              <a:uFillTx/>
              <a:latin typeface="Calibri"/>
              <a:ea typeface="Yu Gothic"/>
              <a:cs typeface="Arial" pitchFamily="34" charset="-12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Proposed mitigation: </a:t>
            </a: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50A5F"/>
              </a:solidFill>
              <a:effectLst/>
              <a:uLnTx/>
              <a:uFillTx/>
              <a:latin typeface="Calibri"/>
              <a:ea typeface="Yu Gothic"/>
              <a:cs typeface="Arial" pitchFamily="34" charset="-12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50A5F"/>
              </a:solidFill>
              <a:effectLst/>
              <a:uLnTx/>
              <a:uFillTx/>
              <a:latin typeface="Calibri"/>
              <a:ea typeface="Yu Gothic"/>
              <a:cs typeface="Arial" pitchFamily="34" charset="-120"/>
            </a:endParaRPr>
          </a:p>
        </p:txBody>
      </p:sp>
      <p:sp>
        <p:nvSpPr>
          <p:cNvPr id="73" name="Text 43">
            <a:extLst>
              <a:ext uri="{FF2B5EF4-FFF2-40B4-BE49-F238E27FC236}">
                <a16:creationId xmlns:a16="http://schemas.microsoft.com/office/drawing/2014/main" id="{1047C9A4-D27F-9835-6BE3-29C08B2698BE}"/>
              </a:ext>
            </a:extLst>
          </p:cNvPr>
          <p:cNvSpPr/>
          <p:nvPr/>
        </p:nvSpPr>
        <p:spPr>
          <a:xfrm>
            <a:off x="7013892" y="2150482"/>
            <a:ext cx="1667309" cy="389477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77" name="Text 45">
            <a:extLst>
              <a:ext uri="{FF2B5EF4-FFF2-40B4-BE49-F238E27FC236}">
                <a16:creationId xmlns:a16="http://schemas.microsoft.com/office/drawing/2014/main" id="{78CBC49A-4476-3CFD-8D1A-1F9E89C43BE6}"/>
              </a:ext>
            </a:extLst>
          </p:cNvPr>
          <p:cNvSpPr/>
          <p:nvPr/>
        </p:nvSpPr>
        <p:spPr>
          <a:xfrm>
            <a:off x="7013892" y="2571672"/>
            <a:ext cx="1667309" cy="389477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68D39F97-A5C7-67CB-82DD-A9643B1EB745}"/>
              </a:ext>
            </a:extLst>
          </p:cNvPr>
          <p:cNvSpPr/>
          <p:nvPr/>
        </p:nvSpPr>
        <p:spPr>
          <a:xfrm>
            <a:off x="192024" y="1530475"/>
            <a:ext cx="4293110" cy="1958683"/>
          </a:xfrm>
          <a:prstGeom prst="roundRect">
            <a:avLst>
              <a:gd name="adj" fmla="val 1250"/>
            </a:avLst>
          </a:prstGeom>
          <a:solidFill>
            <a:srgbClr val="F6FAFF"/>
          </a:solidFill>
          <a:ln w="12700">
            <a:solidFill>
              <a:srgbClr val="77A2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B105E727-53E7-C224-29A1-8153DC1978C7}"/>
              </a:ext>
            </a:extLst>
          </p:cNvPr>
          <p:cNvSpPr/>
          <p:nvPr/>
        </p:nvSpPr>
        <p:spPr>
          <a:xfrm>
            <a:off x="891540" y="1765548"/>
            <a:ext cx="1645920" cy="15773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3" b="1" i="0" u="none" strike="noStrike" kern="1200" cap="none" spc="0" normalizeH="0" baseline="0" noProof="0">
                <a:ln>
                  <a:noFill/>
                </a:ln>
                <a:solidFill>
                  <a:srgbClr val="0047C7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Demonstrated value</a:t>
            </a:r>
            <a:endParaRPr kumimoji="0" lang="en-US" sz="8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88B6FF49-25D6-9756-F472-ED2872419434}"/>
              </a:ext>
            </a:extLst>
          </p:cNvPr>
          <p:cNvSpPr/>
          <p:nvPr/>
        </p:nvSpPr>
        <p:spPr>
          <a:xfrm>
            <a:off x="192023" y="1487837"/>
            <a:ext cx="4293109" cy="240030"/>
          </a:xfrm>
          <a:prstGeom prst="round2SameRect">
            <a:avLst/>
          </a:prstGeom>
          <a:solidFill>
            <a:srgbClr val="0047C7"/>
          </a:solidFill>
          <a:ln w="6350">
            <a:solidFill>
              <a:srgbClr val="0047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KEY TAKEAWAYS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84952164-63F5-9574-B174-3B84C4B4BD51}"/>
              </a:ext>
            </a:extLst>
          </p:cNvPr>
          <p:cNvSpPr/>
          <p:nvPr/>
        </p:nvSpPr>
        <p:spPr>
          <a:xfrm>
            <a:off x="891539" y="1938442"/>
            <a:ext cx="3283567" cy="1032313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50A5F"/>
              </a:solidFill>
              <a:effectLst/>
              <a:uLnTx/>
              <a:uFillTx/>
              <a:latin typeface="Calibri"/>
              <a:ea typeface="Yu Gothic"/>
              <a:cs typeface="Arial" pitchFamily="34" charset="-120"/>
            </a:endParaRPr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61BCDFCC-FCDC-C297-B01D-4C5B4F524859}"/>
              </a:ext>
            </a:extLst>
          </p:cNvPr>
          <p:cNvSpPr/>
          <p:nvPr/>
        </p:nvSpPr>
        <p:spPr>
          <a:xfrm>
            <a:off x="891540" y="2970756"/>
            <a:ext cx="1851660" cy="157734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3" b="1" i="0" u="none" strike="noStrike" kern="1200" cap="none" spc="0" normalizeH="0" baseline="0" noProof="0">
                <a:ln>
                  <a:noFill/>
                </a:ln>
                <a:solidFill>
                  <a:srgbClr val="0047C7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Key next steps</a:t>
            </a:r>
            <a:endParaRPr kumimoji="0" lang="en-US" sz="8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49" name="Text 31">
            <a:extLst>
              <a:ext uri="{FF2B5EF4-FFF2-40B4-BE49-F238E27FC236}">
                <a16:creationId xmlns:a16="http://schemas.microsoft.com/office/drawing/2014/main" id="{57EE612B-C4B2-3D8D-A138-09F0652FD097}"/>
              </a:ext>
            </a:extLst>
          </p:cNvPr>
          <p:cNvSpPr/>
          <p:nvPr/>
        </p:nvSpPr>
        <p:spPr>
          <a:xfrm>
            <a:off x="891539" y="3116018"/>
            <a:ext cx="3503998" cy="32232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X</a:t>
            </a: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>
                <a:solidFill>
                  <a:srgbClr val="050A5F"/>
                </a:solidFill>
                <a:latin typeface="Calibri"/>
                <a:ea typeface="Yu Gothic"/>
                <a:cs typeface="Arial" pitchFamily="34" charset="-120"/>
              </a:rPr>
              <a:t>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FC527D-4533-F66A-F838-057CD6B96AD6}"/>
              </a:ext>
            </a:extLst>
          </p:cNvPr>
          <p:cNvGrpSpPr/>
          <p:nvPr/>
        </p:nvGrpSpPr>
        <p:grpSpPr>
          <a:xfrm>
            <a:off x="305181" y="1808225"/>
            <a:ext cx="397764" cy="397764"/>
            <a:chOff x="305181" y="1785539"/>
            <a:chExt cx="397764" cy="397764"/>
          </a:xfrm>
        </p:grpSpPr>
        <p:sp>
          <p:nvSpPr>
            <p:cNvPr id="33" name="Shape 18">
              <a:extLst>
                <a:ext uri="{FF2B5EF4-FFF2-40B4-BE49-F238E27FC236}">
                  <a16:creationId xmlns:a16="http://schemas.microsoft.com/office/drawing/2014/main" id="{AB267909-E968-A99A-7D4E-DF071CE63D03}"/>
                </a:ext>
              </a:extLst>
            </p:cNvPr>
            <p:cNvSpPr/>
            <p:nvPr/>
          </p:nvSpPr>
          <p:spPr>
            <a:xfrm>
              <a:off x="305181" y="1785539"/>
              <a:ext cx="397764" cy="397764"/>
            </a:xfrm>
            <a:prstGeom prst="ellipse">
              <a:avLst/>
            </a:prstGeom>
            <a:solidFill>
              <a:srgbClr val="0047C7"/>
            </a:solidFill>
            <a:ln w="12700">
              <a:solidFill>
                <a:srgbClr val="0047C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Yu Gothic"/>
                <a:cs typeface="+mn-cs"/>
              </a:endParaRPr>
            </a:p>
          </p:txBody>
        </p:sp>
        <p:pic>
          <p:nvPicPr>
            <p:cNvPr id="8" name="Graphic 7" descr="Ribbon with solid fill">
              <a:extLst>
                <a:ext uri="{FF2B5EF4-FFF2-40B4-BE49-F238E27FC236}">
                  <a16:creationId xmlns:a16="http://schemas.microsoft.com/office/drawing/2014/main" id="{3275BC18-D76B-9303-4360-B60BD7BF9F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6903" y="1847261"/>
              <a:ext cx="274320" cy="27432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F1BC129-97AF-B821-A4BF-DE0B11265BB6}"/>
              </a:ext>
            </a:extLst>
          </p:cNvPr>
          <p:cNvGrpSpPr/>
          <p:nvPr/>
        </p:nvGrpSpPr>
        <p:grpSpPr>
          <a:xfrm>
            <a:off x="308610" y="2942703"/>
            <a:ext cx="397764" cy="414134"/>
            <a:chOff x="308610" y="3118105"/>
            <a:chExt cx="397764" cy="414134"/>
          </a:xfrm>
        </p:grpSpPr>
        <p:sp>
          <p:nvSpPr>
            <p:cNvPr id="43" name="Shape 28">
              <a:extLst>
                <a:ext uri="{FF2B5EF4-FFF2-40B4-BE49-F238E27FC236}">
                  <a16:creationId xmlns:a16="http://schemas.microsoft.com/office/drawing/2014/main" id="{D334A921-4D19-7BC2-D401-B7AB0DF326A1}"/>
                </a:ext>
              </a:extLst>
            </p:cNvPr>
            <p:cNvSpPr/>
            <p:nvPr/>
          </p:nvSpPr>
          <p:spPr>
            <a:xfrm>
              <a:off x="308610" y="3134475"/>
              <a:ext cx="397764" cy="397764"/>
            </a:xfrm>
            <a:prstGeom prst="ellipse">
              <a:avLst/>
            </a:prstGeom>
            <a:solidFill>
              <a:srgbClr val="0047C7"/>
            </a:solidFill>
            <a:ln w="12700">
              <a:solidFill>
                <a:srgbClr val="0047C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Yu Gothic"/>
                <a:cs typeface="+mn-cs"/>
              </a:endParaRPr>
            </a:p>
          </p:txBody>
        </p:sp>
        <p:sp>
          <p:nvSpPr>
            <p:cNvPr id="45" name="Text 29">
              <a:extLst>
                <a:ext uri="{FF2B5EF4-FFF2-40B4-BE49-F238E27FC236}">
                  <a16:creationId xmlns:a16="http://schemas.microsoft.com/office/drawing/2014/main" id="{DE891B7F-5EEF-198F-DC08-ADE36D891CD6}"/>
                </a:ext>
              </a:extLst>
            </p:cNvPr>
            <p:cNvSpPr/>
            <p:nvPr/>
          </p:nvSpPr>
          <p:spPr>
            <a:xfrm>
              <a:off x="308610" y="3118105"/>
              <a:ext cx="397764" cy="384048"/>
            </a:xfrm>
            <a:prstGeom prst="rect">
              <a:avLst/>
            </a:prstGeom>
            <a:noFill/>
            <a:ln/>
          </p:spPr>
          <p:txBody>
            <a:bodyPr wrap="square" lIns="286" tIns="286" rIns="286" bIns="286" rtlCol="0" anchor="ctr">
              <a:norm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Yu Gothic"/>
                <a:cs typeface="+mn-cs"/>
              </a:endParaRPr>
            </a:p>
          </p:txBody>
        </p:sp>
        <p:pic>
          <p:nvPicPr>
            <p:cNvPr id="16" name="Graphic 15" descr="Bar graph with upward trend with solid fill">
              <a:extLst>
                <a:ext uri="{FF2B5EF4-FFF2-40B4-BE49-F238E27FC236}">
                  <a16:creationId xmlns:a16="http://schemas.microsoft.com/office/drawing/2014/main" id="{007865B0-8CBF-40AE-A137-EA370EA157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332" y="3196197"/>
              <a:ext cx="274320" cy="274320"/>
            </a:xfrm>
            <a:prstGeom prst="rect">
              <a:avLst/>
            </a:prstGeom>
          </p:spPr>
        </p:pic>
      </p:grpSp>
      <p:sp>
        <p:nvSpPr>
          <p:cNvPr id="58" name="Shape 32">
            <a:extLst>
              <a:ext uri="{FF2B5EF4-FFF2-40B4-BE49-F238E27FC236}">
                <a16:creationId xmlns:a16="http://schemas.microsoft.com/office/drawing/2014/main" id="{7CC81566-AFBE-6F5B-2A39-2419DD4F80E1}"/>
              </a:ext>
            </a:extLst>
          </p:cNvPr>
          <p:cNvSpPr/>
          <p:nvPr/>
        </p:nvSpPr>
        <p:spPr>
          <a:xfrm>
            <a:off x="4571999" y="1494657"/>
            <a:ext cx="2116758" cy="1992041"/>
          </a:xfrm>
          <a:prstGeom prst="roundRect">
            <a:avLst>
              <a:gd name="adj" fmla="val 1250"/>
            </a:avLst>
          </a:prstGeom>
          <a:solidFill>
            <a:srgbClr val="F6FAFF"/>
          </a:solidFill>
          <a:ln w="12700">
            <a:solidFill>
              <a:srgbClr val="77A2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Yu Gothic"/>
              <a:cs typeface="+mn-cs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65087AC-0371-D077-D964-8F87670D7DD1}"/>
              </a:ext>
            </a:extLst>
          </p:cNvPr>
          <p:cNvGrpSpPr/>
          <p:nvPr/>
        </p:nvGrpSpPr>
        <p:grpSpPr>
          <a:xfrm>
            <a:off x="4606016" y="1484754"/>
            <a:ext cx="2096348" cy="1865835"/>
            <a:chOff x="3305556" y="1474470"/>
            <a:chExt cx="2523744" cy="1893416"/>
          </a:xfrm>
        </p:grpSpPr>
        <p:sp>
          <p:nvSpPr>
            <p:cNvPr id="62" name="Text 33">
              <a:extLst>
                <a:ext uri="{FF2B5EF4-FFF2-40B4-BE49-F238E27FC236}">
                  <a16:creationId xmlns:a16="http://schemas.microsoft.com/office/drawing/2014/main" id="{F3E0ADB4-6F03-7974-C143-3610CB605867}"/>
                </a:ext>
              </a:extLst>
            </p:cNvPr>
            <p:cNvSpPr/>
            <p:nvPr/>
          </p:nvSpPr>
          <p:spPr>
            <a:xfrm>
              <a:off x="3305556" y="1474470"/>
              <a:ext cx="2523744" cy="240030"/>
            </a:xfrm>
            <a:prstGeom prst="round2SameRect">
              <a:avLst/>
            </a:prstGeom>
            <a:solidFill>
              <a:srgbClr val="0047C7"/>
            </a:solidFill>
            <a:ln w="6350">
              <a:solidFill>
                <a:srgbClr val="0047C7"/>
              </a:solidFill>
            </a:ln>
          </p:spPr>
          <p:txBody>
            <a:bodyPr wrap="square" lIns="191" tIns="191" rIns="191" bIns="191" rtlCol="0" anchor="ctr">
              <a:norm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Arial" pitchFamily="34" charset="-122"/>
                  <a:cs typeface="Arial" pitchFamily="34" charset="-120"/>
                </a:rPr>
                <a:t>DECISION REQUIRED</a:t>
              </a: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Yu Gothic"/>
                <a:cs typeface="+mn-cs"/>
              </a:endParaRPr>
            </a:p>
          </p:txBody>
        </p:sp>
        <p:sp>
          <p:nvSpPr>
            <p:cNvPr id="64" name="Text 36">
              <a:extLst>
                <a:ext uri="{FF2B5EF4-FFF2-40B4-BE49-F238E27FC236}">
                  <a16:creationId xmlns:a16="http://schemas.microsoft.com/office/drawing/2014/main" id="{97C10BA1-CFB4-E76B-60CB-8793AB49D353}"/>
                </a:ext>
              </a:extLst>
            </p:cNvPr>
            <p:cNvSpPr/>
            <p:nvPr/>
          </p:nvSpPr>
          <p:spPr>
            <a:xfrm>
              <a:off x="3639749" y="2365210"/>
              <a:ext cx="1869704" cy="438913"/>
            </a:xfrm>
            <a:prstGeom prst="rect">
              <a:avLst/>
            </a:prstGeom>
            <a:noFill/>
            <a:ln/>
          </p:spPr>
          <p:txBody>
            <a:bodyPr wrap="square" lIns="286" tIns="286" rIns="286" bIns="286" rtlCol="0" anchor="ctr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Yu Gothic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1200" cap="none" spc="0" normalizeH="0" baseline="0" noProof="0">
                  <a:ln>
                    <a:noFill/>
                  </a:ln>
                  <a:solidFill>
                    <a:srgbClr val="0047C7"/>
                  </a:solidFill>
                  <a:effectLst/>
                  <a:uLnTx/>
                  <a:uFillTx/>
                  <a:latin typeface="Calibri"/>
                  <a:ea typeface="Arial" pitchFamily="34" charset="-122"/>
                  <a:cs typeface="Arial" pitchFamily="34" charset="-120"/>
                </a:rPr>
                <a:t>[Decision to be made]</a:t>
              </a: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Yu Gothic"/>
                <a:cs typeface="+mn-cs"/>
              </a:endParaRPr>
            </a:p>
          </p:txBody>
        </p:sp>
        <p:sp>
          <p:nvSpPr>
            <p:cNvPr id="66" name="Text 37">
              <a:extLst>
                <a:ext uri="{FF2B5EF4-FFF2-40B4-BE49-F238E27FC236}">
                  <a16:creationId xmlns:a16="http://schemas.microsoft.com/office/drawing/2014/main" id="{8351A0F3-BA33-7F11-D4EE-78C6D1A7610C}"/>
                </a:ext>
              </a:extLst>
            </p:cNvPr>
            <p:cNvSpPr/>
            <p:nvPr/>
          </p:nvSpPr>
          <p:spPr>
            <a:xfrm>
              <a:off x="3803077" y="3024986"/>
              <a:ext cx="1543049" cy="342900"/>
            </a:xfrm>
            <a:prstGeom prst="rect">
              <a:avLst/>
            </a:prstGeom>
            <a:noFill/>
            <a:ln/>
          </p:spPr>
          <p:txBody>
            <a:bodyPr wrap="square" lIns="286" tIns="286" rIns="286" bIns="286" rtlCol="0" anchor="ctr">
              <a:normAutofit/>
            </a:bodyPr>
            <a:lstStyle/>
            <a:p>
              <a:pPr algn="ctr">
                <a:defRPr/>
              </a:pPr>
              <a:r>
                <a:rPr lang="en-US" dirty="0" err="1"/>
                <a:t>PlaceHolder</a:t>
              </a:r>
              <a:endParaRPr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Yu Gothic"/>
                <a:cs typeface="Arial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EC40325-E817-F39C-9084-C2F960776582}"/>
                </a:ext>
              </a:extLst>
            </p:cNvPr>
            <p:cNvGrpSpPr/>
            <p:nvPr/>
          </p:nvGrpSpPr>
          <p:grpSpPr>
            <a:xfrm>
              <a:off x="4252792" y="1789668"/>
              <a:ext cx="643619" cy="514350"/>
              <a:chOff x="4201357" y="1851660"/>
              <a:chExt cx="643619" cy="514350"/>
            </a:xfrm>
          </p:grpSpPr>
          <p:sp>
            <p:nvSpPr>
              <p:cNvPr id="70" name="Text 35">
                <a:extLst>
                  <a:ext uri="{FF2B5EF4-FFF2-40B4-BE49-F238E27FC236}">
                    <a16:creationId xmlns:a16="http://schemas.microsoft.com/office/drawing/2014/main" id="{4F5751E7-632A-D40F-DB65-D81A47D4E76F}"/>
                  </a:ext>
                </a:extLst>
              </p:cNvPr>
              <p:cNvSpPr/>
              <p:nvPr/>
            </p:nvSpPr>
            <p:spPr>
              <a:xfrm>
                <a:off x="4258818" y="1858518"/>
                <a:ext cx="514350" cy="500634"/>
              </a:xfrm>
              <a:prstGeom prst="rect">
                <a:avLst/>
              </a:prstGeom>
              <a:noFill/>
              <a:ln/>
            </p:spPr>
            <p:txBody>
              <a:bodyPr wrap="square" lIns="286" tIns="286" rIns="286" bIns="286" rtlCol="0" anchor="ctr">
                <a:norm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7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Yu Gothic"/>
                  <a:cs typeface="+mn-cs"/>
                </a:endParaRPr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2B98F7DA-AC21-84D4-6A5E-32E34AD1A687}"/>
                  </a:ext>
                </a:extLst>
              </p:cNvPr>
              <p:cNvGrpSpPr/>
              <p:nvPr/>
            </p:nvGrpSpPr>
            <p:grpSpPr>
              <a:xfrm>
                <a:off x="4201357" y="1851660"/>
                <a:ext cx="643619" cy="514350"/>
                <a:chOff x="4201357" y="1851660"/>
                <a:chExt cx="643619" cy="514350"/>
              </a:xfrm>
            </p:grpSpPr>
            <p:sp>
              <p:nvSpPr>
                <p:cNvPr id="78" name="Shape 34">
                  <a:extLst>
                    <a:ext uri="{FF2B5EF4-FFF2-40B4-BE49-F238E27FC236}">
                      <a16:creationId xmlns:a16="http://schemas.microsoft.com/office/drawing/2014/main" id="{A81EEB0D-CAAD-87C2-F604-EF5E413056CC}"/>
                    </a:ext>
                  </a:extLst>
                </p:cNvPr>
                <p:cNvSpPr/>
                <p:nvPr/>
              </p:nvSpPr>
              <p:spPr>
                <a:xfrm>
                  <a:off x="4201357" y="1851660"/>
                  <a:ext cx="643619" cy="514350"/>
                </a:xfrm>
                <a:prstGeom prst="ellipse">
                  <a:avLst/>
                </a:prstGeom>
                <a:solidFill>
                  <a:srgbClr val="D7E5FF"/>
                </a:solidFill>
                <a:ln w="12700">
                  <a:solidFill>
                    <a:srgbClr val="D7E5FF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Yu Gothic"/>
                    <a:cs typeface="+mn-cs"/>
                  </a:endParaRPr>
                </a:p>
              </p:txBody>
            </p:sp>
            <p:sp>
              <p:nvSpPr>
                <p:cNvPr id="80" name="clip">
                  <a:extLst>
                    <a:ext uri="{FF2B5EF4-FFF2-40B4-BE49-F238E27FC236}">
                      <a16:creationId xmlns:a16="http://schemas.microsoft.com/office/drawing/2014/main" id="{44250B52-EAEC-3173-A862-3B89EECD4A6A}"/>
                    </a:ext>
                  </a:extLst>
                </p:cNvPr>
                <p:cNvSpPr/>
                <p:nvPr/>
              </p:nvSpPr>
              <p:spPr>
                <a:xfrm>
                  <a:off x="4368830" y="1965944"/>
                  <a:ext cx="308674" cy="30896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E9F1FF"/>
                </a:solid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Yu Gothic"/>
                    <a:cs typeface="+mn-cs"/>
                  </a:endParaRPr>
                </a:p>
              </p:txBody>
            </p:sp>
          </p:grpSp>
          <p:sp>
            <p:nvSpPr>
              <p:cNvPr id="74" name="clip-top">
                <a:extLst>
                  <a:ext uri="{FF2B5EF4-FFF2-40B4-BE49-F238E27FC236}">
                    <a16:creationId xmlns:a16="http://schemas.microsoft.com/office/drawing/2014/main" id="{3525EA7D-B5A6-9A03-0EDA-39C85D81A657}"/>
                  </a:ext>
                </a:extLst>
              </p:cNvPr>
              <p:cNvSpPr/>
              <p:nvPr/>
            </p:nvSpPr>
            <p:spPr>
              <a:xfrm>
                <a:off x="4459306" y="1935653"/>
                <a:ext cx="109600" cy="53474"/>
              </a:xfrm>
              <a:prstGeom prst="roundRect">
                <a:avLst>
                  <a:gd name="adj" fmla="val 3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Yu Gothic"/>
                  <a:cs typeface="+mn-cs"/>
                </a:endParaRPr>
              </a:p>
            </p:txBody>
          </p:sp>
          <p:sp>
            <p:nvSpPr>
              <p:cNvPr id="76" name="check">
                <a:extLst>
                  <a:ext uri="{FF2B5EF4-FFF2-40B4-BE49-F238E27FC236}">
                    <a16:creationId xmlns:a16="http://schemas.microsoft.com/office/drawing/2014/main" id="{CC3370E8-0673-BA92-C5B7-E08E1B324C3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56808" y="2051038"/>
                <a:ext cx="118370" cy="136655"/>
              </a:xfrm>
              <a:custGeom>
                <a:avLst/>
                <a:gdLst/>
                <a:ahLst/>
                <a:cxnLst/>
                <a:rect l="0" t="0" r="300000" b="300000"/>
                <a:pathLst>
                  <a:path w="300000" h="300000">
                    <a:moveTo>
                      <a:pt x="18000" y="156000"/>
                    </a:moveTo>
                    <a:lnTo>
                      <a:pt x="120000" y="255000"/>
                    </a:lnTo>
                    <a:lnTo>
                      <a:pt x="282000" y="66000"/>
                    </a:lnTo>
                    <a:lnTo>
                      <a:pt x="249000" y="30000"/>
                    </a:lnTo>
                    <a:lnTo>
                      <a:pt x="120000" y="186000"/>
                    </a:lnTo>
                    <a:lnTo>
                      <a:pt x="51000" y="1200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Yu Gothic"/>
                  <a:cs typeface="+mn-cs"/>
                </a:endParaRPr>
              </a:p>
            </p:txBody>
          </p:sp>
        </p:grpSp>
      </p:grpSp>
      <p:sp>
        <p:nvSpPr>
          <p:cNvPr id="88" name="Shape 51">
            <a:extLst>
              <a:ext uri="{FF2B5EF4-FFF2-40B4-BE49-F238E27FC236}">
                <a16:creationId xmlns:a16="http://schemas.microsoft.com/office/drawing/2014/main" id="{233221F0-D82D-4962-34C8-777AF94E1FC5}"/>
              </a:ext>
            </a:extLst>
          </p:cNvPr>
          <p:cNvSpPr/>
          <p:nvPr/>
        </p:nvSpPr>
        <p:spPr>
          <a:xfrm>
            <a:off x="4604081" y="3581127"/>
            <a:ext cx="4297681" cy="1252968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90" name="Text 52">
            <a:extLst>
              <a:ext uri="{FF2B5EF4-FFF2-40B4-BE49-F238E27FC236}">
                <a16:creationId xmlns:a16="http://schemas.microsoft.com/office/drawing/2014/main" id="{06325AF6-61BD-6249-430B-604E2716FC92}"/>
              </a:ext>
            </a:extLst>
          </p:cNvPr>
          <p:cNvSpPr/>
          <p:nvPr/>
        </p:nvSpPr>
        <p:spPr>
          <a:xfrm>
            <a:off x="4572000" y="3548420"/>
            <a:ext cx="4297681" cy="219456"/>
          </a:xfrm>
          <a:prstGeom prst="round2Same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 KPI PULSE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92" name="Shape 54">
            <a:extLst>
              <a:ext uri="{FF2B5EF4-FFF2-40B4-BE49-F238E27FC236}">
                <a16:creationId xmlns:a16="http://schemas.microsoft.com/office/drawing/2014/main" id="{77DEB69A-8BDE-65C6-945A-0E05FBD816AF}"/>
              </a:ext>
            </a:extLst>
          </p:cNvPr>
          <p:cNvSpPr/>
          <p:nvPr/>
        </p:nvSpPr>
        <p:spPr>
          <a:xfrm>
            <a:off x="7131660" y="3773384"/>
            <a:ext cx="0" cy="843534"/>
          </a:xfrm>
          <a:prstGeom prst="line">
            <a:avLst/>
          </a:prstGeom>
          <a:noFill/>
          <a:ln w="6350">
            <a:solidFill>
              <a:srgbClr val="CBDD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94" name="Shape 55">
            <a:extLst>
              <a:ext uri="{FF2B5EF4-FFF2-40B4-BE49-F238E27FC236}">
                <a16:creationId xmlns:a16="http://schemas.microsoft.com/office/drawing/2014/main" id="{A494D024-5094-1A51-04E5-5C76B226E6EB}"/>
              </a:ext>
            </a:extLst>
          </p:cNvPr>
          <p:cNvSpPr/>
          <p:nvPr/>
        </p:nvSpPr>
        <p:spPr>
          <a:xfrm>
            <a:off x="4572000" y="3908465"/>
            <a:ext cx="4297681" cy="0"/>
          </a:xfrm>
          <a:prstGeom prst="line">
            <a:avLst/>
          </a:prstGeom>
          <a:noFill/>
          <a:ln w="6350">
            <a:solidFill>
              <a:srgbClr val="CBDD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96" name="Shape 56">
            <a:extLst>
              <a:ext uri="{FF2B5EF4-FFF2-40B4-BE49-F238E27FC236}">
                <a16:creationId xmlns:a16="http://schemas.microsoft.com/office/drawing/2014/main" id="{290BEC71-A683-DC5E-2C5B-2CE0CE46953B}"/>
              </a:ext>
            </a:extLst>
          </p:cNvPr>
          <p:cNvSpPr/>
          <p:nvPr/>
        </p:nvSpPr>
        <p:spPr>
          <a:xfrm>
            <a:off x="4572000" y="4197982"/>
            <a:ext cx="4297681" cy="0"/>
          </a:xfrm>
          <a:prstGeom prst="line">
            <a:avLst/>
          </a:prstGeom>
          <a:noFill/>
          <a:ln w="6350">
            <a:solidFill>
              <a:srgbClr val="CBDD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98" name="Shape 57">
            <a:extLst>
              <a:ext uri="{FF2B5EF4-FFF2-40B4-BE49-F238E27FC236}">
                <a16:creationId xmlns:a16="http://schemas.microsoft.com/office/drawing/2014/main" id="{C64C33FB-27B7-9A0F-37CB-A9917CAC58CC}"/>
              </a:ext>
            </a:extLst>
          </p:cNvPr>
          <p:cNvSpPr/>
          <p:nvPr/>
        </p:nvSpPr>
        <p:spPr>
          <a:xfrm>
            <a:off x="4572000" y="4338571"/>
            <a:ext cx="4297681" cy="0"/>
          </a:xfrm>
          <a:prstGeom prst="line">
            <a:avLst/>
          </a:prstGeom>
          <a:noFill/>
          <a:ln w="6350">
            <a:solidFill>
              <a:srgbClr val="CBDD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00" name="Shape 58">
            <a:extLst>
              <a:ext uri="{FF2B5EF4-FFF2-40B4-BE49-F238E27FC236}">
                <a16:creationId xmlns:a16="http://schemas.microsoft.com/office/drawing/2014/main" id="{2426DC78-06D3-57AB-E53E-96AEAC791321}"/>
              </a:ext>
            </a:extLst>
          </p:cNvPr>
          <p:cNvSpPr/>
          <p:nvPr/>
        </p:nvSpPr>
        <p:spPr>
          <a:xfrm>
            <a:off x="4572000" y="4479160"/>
            <a:ext cx="4297681" cy="0"/>
          </a:xfrm>
          <a:prstGeom prst="line">
            <a:avLst/>
          </a:prstGeom>
          <a:noFill/>
          <a:ln w="6350">
            <a:solidFill>
              <a:srgbClr val="CBDD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02" name="Shape 59">
            <a:extLst>
              <a:ext uri="{FF2B5EF4-FFF2-40B4-BE49-F238E27FC236}">
                <a16:creationId xmlns:a16="http://schemas.microsoft.com/office/drawing/2014/main" id="{D91E244C-21C7-026D-BD36-1181CEA5970D}"/>
              </a:ext>
            </a:extLst>
          </p:cNvPr>
          <p:cNvSpPr/>
          <p:nvPr/>
        </p:nvSpPr>
        <p:spPr>
          <a:xfrm>
            <a:off x="4572000" y="4619749"/>
            <a:ext cx="4297681" cy="0"/>
          </a:xfrm>
          <a:prstGeom prst="line">
            <a:avLst/>
          </a:prstGeom>
          <a:noFill/>
          <a:ln w="6350">
            <a:solidFill>
              <a:srgbClr val="CBDD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04" name="Text 60">
            <a:extLst>
              <a:ext uri="{FF2B5EF4-FFF2-40B4-BE49-F238E27FC236}">
                <a16:creationId xmlns:a16="http://schemas.microsoft.com/office/drawing/2014/main" id="{EB173FA9-9D0F-7A0A-5C45-5950143B6DDF}"/>
              </a:ext>
            </a:extLst>
          </p:cNvPr>
          <p:cNvSpPr/>
          <p:nvPr/>
        </p:nvSpPr>
        <p:spPr>
          <a:xfrm>
            <a:off x="4612331" y="3783671"/>
            <a:ext cx="2519330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50A5F"/>
                </a:solidFill>
                <a:latin typeface="Calibri"/>
                <a:ea typeface="Yu Gothic"/>
                <a:cs typeface="Arial" pitchFamily="34" charset="-120"/>
              </a:rPr>
              <a:t>Utilization(YTD)	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06" name="Text 61">
            <a:extLst>
              <a:ext uri="{FF2B5EF4-FFF2-40B4-BE49-F238E27FC236}">
                <a16:creationId xmlns:a16="http://schemas.microsoft.com/office/drawing/2014/main" id="{A0327AD6-C511-C281-9271-6818DB3A7C2C}"/>
              </a:ext>
            </a:extLst>
          </p:cNvPr>
          <p:cNvSpPr/>
          <p:nvPr/>
        </p:nvSpPr>
        <p:spPr>
          <a:xfrm>
            <a:off x="7222824" y="3778163"/>
            <a:ext cx="1556057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107.5%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08" name="Text 62">
            <a:extLst>
              <a:ext uri="{FF2B5EF4-FFF2-40B4-BE49-F238E27FC236}">
                <a16:creationId xmlns:a16="http://schemas.microsoft.com/office/drawing/2014/main" id="{E2913F15-8C52-665C-5AF0-54DFADE6487C}"/>
              </a:ext>
            </a:extLst>
          </p:cNvPr>
          <p:cNvSpPr/>
          <p:nvPr/>
        </p:nvSpPr>
        <p:spPr>
          <a:xfrm>
            <a:off x="4612331" y="3924260"/>
            <a:ext cx="2519330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TEDs Compliance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10" name="Text 63">
            <a:extLst>
              <a:ext uri="{FF2B5EF4-FFF2-40B4-BE49-F238E27FC236}">
                <a16:creationId xmlns:a16="http://schemas.microsoft.com/office/drawing/2014/main" id="{D9AFB730-23C7-2056-7441-DA98A4DBBFB2}"/>
              </a:ext>
            </a:extLst>
          </p:cNvPr>
          <p:cNvSpPr/>
          <p:nvPr/>
        </p:nvSpPr>
        <p:spPr>
          <a:xfrm>
            <a:off x="7222824" y="3933992"/>
            <a:ext cx="1556057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lvl="0" algn="ctr"/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47C7"/>
                </a:solidFill>
                <a:effectLst/>
                <a:uLnTx/>
                <a:uFillTx/>
                <a:latin typeface="Calibri"/>
                <a:ea typeface="Yu Gothic"/>
                <a:cs typeface="Arial" pitchFamily="34" charset="-120"/>
              </a:rPr>
              <a:t>99%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12" name="Text 64">
            <a:extLst>
              <a:ext uri="{FF2B5EF4-FFF2-40B4-BE49-F238E27FC236}">
                <a16:creationId xmlns:a16="http://schemas.microsoft.com/office/drawing/2014/main" id="{77A03DED-2E3E-26DD-EBEB-547824372E9F}"/>
              </a:ext>
            </a:extLst>
          </p:cNvPr>
          <p:cNvSpPr/>
          <p:nvPr/>
        </p:nvSpPr>
        <p:spPr>
          <a:xfrm>
            <a:off x="4612331" y="4498383"/>
            <a:ext cx="2519330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KPI 6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14" name="Text 65">
            <a:extLst>
              <a:ext uri="{FF2B5EF4-FFF2-40B4-BE49-F238E27FC236}">
                <a16:creationId xmlns:a16="http://schemas.microsoft.com/office/drawing/2014/main" id="{595968B1-A800-1CCE-440B-54AE6700C383}"/>
              </a:ext>
            </a:extLst>
          </p:cNvPr>
          <p:cNvSpPr/>
          <p:nvPr/>
        </p:nvSpPr>
        <p:spPr>
          <a:xfrm>
            <a:off x="7222824" y="4492875"/>
            <a:ext cx="1556057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lvl="0" algn="ctr"/>
            <a:r>
              <a:rPr lang="en-US" sz="800" b="1">
                <a:solidFill>
                  <a:srgbClr val="0047C7"/>
                </a:solidFill>
                <a:ea typeface="Arial" pitchFamily="34" charset="-122"/>
                <a:cs typeface="Arial" pitchFamily="34" charset="-120"/>
              </a:rPr>
              <a:t>Status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16" name="Text 66">
            <a:extLst>
              <a:ext uri="{FF2B5EF4-FFF2-40B4-BE49-F238E27FC236}">
                <a16:creationId xmlns:a16="http://schemas.microsoft.com/office/drawing/2014/main" id="{52B08FB1-6A07-0AD2-2649-0DC3FC301E44}"/>
              </a:ext>
            </a:extLst>
          </p:cNvPr>
          <p:cNvSpPr/>
          <p:nvPr/>
        </p:nvSpPr>
        <p:spPr>
          <a:xfrm>
            <a:off x="4612331" y="4218920"/>
            <a:ext cx="2519330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lvl="0">
              <a:defRPr/>
            </a:pPr>
            <a:r>
              <a:rPr lang="en-US" sz="800">
                <a:solidFill>
                  <a:srgbClr val="050A5F"/>
                </a:solidFill>
                <a:ea typeface="Arial" pitchFamily="34" charset="-122"/>
                <a:cs typeface="Arial" pitchFamily="34" charset="-120"/>
              </a:rPr>
              <a:t>AI-competence plan execution(YTD)</a:t>
            </a:r>
            <a:endParaRPr lang="en-US" sz="800">
              <a:solidFill>
                <a:prstClr val="black"/>
              </a:solidFill>
            </a:endParaRPr>
          </a:p>
        </p:txBody>
      </p:sp>
      <p:sp>
        <p:nvSpPr>
          <p:cNvPr id="118" name="Text 67">
            <a:extLst>
              <a:ext uri="{FF2B5EF4-FFF2-40B4-BE49-F238E27FC236}">
                <a16:creationId xmlns:a16="http://schemas.microsoft.com/office/drawing/2014/main" id="{FC1EA490-B115-A2E3-201C-9243BBD082B5}"/>
              </a:ext>
            </a:extLst>
          </p:cNvPr>
          <p:cNvSpPr/>
          <p:nvPr/>
        </p:nvSpPr>
        <p:spPr>
          <a:xfrm>
            <a:off x="7222824" y="4213412"/>
            <a:ext cx="1556057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lvl="0" algn="ctr"/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20" name="Text 68">
            <a:extLst>
              <a:ext uri="{FF2B5EF4-FFF2-40B4-BE49-F238E27FC236}">
                <a16:creationId xmlns:a16="http://schemas.microsoft.com/office/drawing/2014/main" id="{5A26F8E4-BE3D-3472-CA18-485251207A22}"/>
              </a:ext>
            </a:extLst>
          </p:cNvPr>
          <p:cNvSpPr/>
          <p:nvPr/>
        </p:nvSpPr>
        <p:spPr>
          <a:xfrm>
            <a:off x="4612331" y="4635544"/>
            <a:ext cx="2519330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Yu Gothic"/>
                <a:cs typeface="Arial" pitchFamily="34" charset="-120"/>
              </a:rPr>
              <a:t>KPI 7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22" name="Text 69">
            <a:extLst>
              <a:ext uri="{FF2B5EF4-FFF2-40B4-BE49-F238E27FC236}">
                <a16:creationId xmlns:a16="http://schemas.microsoft.com/office/drawing/2014/main" id="{8F0D2AB2-03AF-6EF8-6C97-086BD361DD56}"/>
              </a:ext>
            </a:extLst>
          </p:cNvPr>
          <p:cNvSpPr/>
          <p:nvPr/>
        </p:nvSpPr>
        <p:spPr>
          <a:xfrm>
            <a:off x="7222824" y="4637785"/>
            <a:ext cx="1556057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lvl="0" algn="ctr"/>
            <a:r>
              <a:rPr lang="en-US" sz="800" b="1">
                <a:solidFill>
                  <a:srgbClr val="0047C7"/>
                </a:solidFill>
                <a:ea typeface="Arial" pitchFamily="34" charset="-122"/>
                <a:cs typeface="Arial" pitchFamily="34" charset="-120"/>
              </a:rPr>
              <a:t>Status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24" name="Text 64">
            <a:extLst>
              <a:ext uri="{FF2B5EF4-FFF2-40B4-BE49-F238E27FC236}">
                <a16:creationId xmlns:a16="http://schemas.microsoft.com/office/drawing/2014/main" id="{8FC2D4D8-FA34-EB17-4ACF-346BE9C39045}"/>
              </a:ext>
            </a:extLst>
          </p:cNvPr>
          <p:cNvSpPr/>
          <p:nvPr/>
        </p:nvSpPr>
        <p:spPr>
          <a:xfrm>
            <a:off x="4612330" y="4355399"/>
            <a:ext cx="2519330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Maintain active certifications</a:t>
            </a:r>
          </a:p>
        </p:txBody>
      </p:sp>
      <p:sp>
        <p:nvSpPr>
          <p:cNvPr id="126" name="Text 65">
            <a:extLst>
              <a:ext uri="{FF2B5EF4-FFF2-40B4-BE49-F238E27FC236}">
                <a16:creationId xmlns:a16="http://schemas.microsoft.com/office/drawing/2014/main" id="{2BE0D7EE-D9E4-262F-E38A-D537770BFBC4}"/>
              </a:ext>
            </a:extLst>
          </p:cNvPr>
          <p:cNvSpPr/>
          <p:nvPr/>
        </p:nvSpPr>
        <p:spPr>
          <a:xfrm>
            <a:off x="7107286" y="4372096"/>
            <a:ext cx="1787130" cy="8099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lvl="0" algn="ctr"/>
            <a:r>
              <a:rPr lang="en-US" sz="800" b="1">
                <a:solidFill>
                  <a:srgbClr val="0047C7"/>
                </a:solidFill>
                <a:ea typeface="Arial" pitchFamily="34" charset="-122"/>
                <a:cs typeface="Arial" pitchFamily="34" charset="-120"/>
              </a:rPr>
              <a:t>Successful recertification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2" name="Shape 56">
            <a:extLst>
              <a:ext uri="{FF2B5EF4-FFF2-40B4-BE49-F238E27FC236}">
                <a16:creationId xmlns:a16="http://schemas.microsoft.com/office/drawing/2014/main" id="{480F05C4-6A13-141A-5323-70643BE1EC06}"/>
              </a:ext>
            </a:extLst>
          </p:cNvPr>
          <p:cNvSpPr/>
          <p:nvPr/>
        </p:nvSpPr>
        <p:spPr>
          <a:xfrm>
            <a:off x="4571999" y="4076062"/>
            <a:ext cx="4297681" cy="0"/>
          </a:xfrm>
          <a:prstGeom prst="line">
            <a:avLst/>
          </a:prstGeom>
          <a:noFill/>
          <a:ln w="6350">
            <a:solidFill>
              <a:srgbClr val="CBDDF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22" name="Text 62">
            <a:extLst>
              <a:ext uri="{FF2B5EF4-FFF2-40B4-BE49-F238E27FC236}">
                <a16:creationId xmlns:a16="http://schemas.microsoft.com/office/drawing/2014/main" id="{A5E5730E-4068-9C2E-B538-F894170D441D}"/>
              </a:ext>
            </a:extLst>
          </p:cNvPr>
          <p:cNvSpPr/>
          <p:nvPr/>
        </p:nvSpPr>
        <p:spPr>
          <a:xfrm>
            <a:off x="4612330" y="4078400"/>
            <a:ext cx="2519330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50A5F"/>
                </a:solidFill>
                <a:effectLst/>
                <a:uLnTx/>
                <a:uFillTx/>
                <a:latin typeface="Calibri"/>
                <a:ea typeface="Arial" pitchFamily="34" charset="-122"/>
                <a:cs typeface="Arial" pitchFamily="34" charset="-120"/>
              </a:rPr>
              <a:t>AI-augmented productivity(YTD)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28" name="Text 63">
            <a:extLst>
              <a:ext uri="{FF2B5EF4-FFF2-40B4-BE49-F238E27FC236}">
                <a16:creationId xmlns:a16="http://schemas.microsoft.com/office/drawing/2014/main" id="{4CDC54A4-0C85-2C7C-62A0-ABBF17176007}"/>
              </a:ext>
            </a:extLst>
          </p:cNvPr>
          <p:cNvSpPr/>
          <p:nvPr/>
        </p:nvSpPr>
        <p:spPr>
          <a:xfrm>
            <a:off x="7222824" y="4081754"/>
            <a:ext cx="1556057" cy="120015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lvl="0" algn="ctr"/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47C7"/>
                </a:solidFill>
                <a:effectLst/>
                <a:uLnTx/>
                <a:uFillTx/>
                <a:latin typeface="Calibri"/>
                <a:ea typeface="Yu Gothic"/>
                <a:cs typeface="Arial" pitchFamily="34" charset="-120"/>
              </a:rPr>
              <a:t>5%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6" name="Text 63">
            <a:extLst>
              <a:ext uri="{FF2B5EF4-FFF2-40B4-BE49-F238E27FC236}">
                <a16:creationId xmlns:a16="http://schemas.microsoft.com/office/drawing/2014/main" id="{F6E85395-2BB3-6631-C097-2D44383C7C14}"/>
              </a:ext>
            </a:extLst>
          </p:cNvPr>
          <p:cNvSpPr/>
          <p:nvPr/>
        </p:nvSpPr>
        <p:spPr>
          <a:xfrm>
            <a:off x="7143623" y="4207611"/>
            <a:ext cx="1726056" cy="1108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lvl="0" algn="ctr"/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47C7"/>
                </a:solidFill>
                <a:effectLst/>
                <a:uLnTx/>
                <a:uFillTx/>
                <a:latin typeface="Calibri"/>
                <a:ea typeface="Yu Gothic"/>
                <a:cs typeface="Arial" pitchFamily="34" charset="-120"/>
              </a:rPr>
              <a:t>63%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"/>
              <a:cs typeface="+mn-cs"/>
            </a:endParaRPr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F2C77CE4-96D7-D296-04A6-66A810DB20E7}"/>
              </a:ext>
            </a:extLst>
          </p:cNvPr>
          <p:cNvSpPr/>
          <p:nvPr/>
        </p:nvSpPr>
        <p:spPr>
          <a:xfrm>
            <a:off x="7608671" y="980530"/>
            <a:ext cx="1159818" cy="267953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Calibri"/>
                <a:ea typeface="Arial" pitchFamily="34" charset="-122"/>
                <a:cs typeface="Arial"/>
              </a:rPr>
              <a:t>On Track</a:t>
            </a:r>
            <a:endParaRPr lang="en-US" sz="1000" b="1" i="0" u="none" strike="noStrike" kern="1200" cap="none" spc="0" normalizeH="0" baseline="0" noProof="0" dirty="0">
              <a:ln>
                <a:noFill/>
              </a:ln>
              <a:solidFill>
                <a:srgbClr val="C55A11"/>
              </a:solidFill>
              <a:effectLst/>
              <a:uLnTx/>
              <a:uFillTx/>
              <a:latin typeface="Calibri"/>
              <a:ea typeface="Yu Gothic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869254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05656-DE64-5726-852C-34EF9772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E3F715-4CC3-DF62-A0E5-D7C366E393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E028AF-3A04-909F-0872-C7888F5858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808F56-BE51-D50C-95CC-92C63C38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2x2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16A598D1-B7E5-C17F-98C9-71658FAD27CB}"/>
              </a:ext>
            </a:extLst>
          </p:cNvPr>
          <p:cNvSpPr/>
          <p:nvPr/>
        </p:nvSpPr>
        <p:spPr>
          <a:xfrm>
            <a:off x="501035" y="2812461"/>
            <a:ext cx="3908620" cy="1883987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Calibri"/>
              </a:rPr>
              <a:t>Focus Areas for Next Months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kern="0" dirty="0">
              <a:solidFill>
                <a:srgbClr val="002060"/>
              </a:solidFill>
              <a:cs typeface="Calibri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61987B1-8B60-25C6-3BAF-DC86CBE18531}"/>
              </a:ext>
            </a:extLst>
          </p:cNvPr>
          <p:cNvSpPr/>
          <p:nvPr/>
        </p:nvSpPr>
        <p:spPr>
          <a:xfrm>
            <a:off x="4571057" y="779378"/>
            <a:ext cx="3908620" cy="1883987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kern="0" dirty="0">
                <a:solidFill>
                  <a:srgbClr val="002060"/>
                </a:solidFill>
                <a:latin typeface="+mj-lt"/>
                <a:cs typeface="Calibri"/>
              </a:rPr>
              <a:t>Observations, Challenges &amp; Risks</a:t>
            </a:r>
          </a:p>
          <a:p>
            <a:pPr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kern="0" dirty="0">
              <a:solidFill>
                <a:srgbClr val="002060"/>
              </a:solidFill>
              <a:latin typeface="Calibri Light"/>
              <a:cs typeface="Calibri"/>
            </a:endParaRPr>
          </a:p>
          <a:p>
            <a:pPr marL="171450" indent="-171450" defTabSz="914400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kern="0" dirty="0">
              <a:solidFill>
                <a:srgbClr val="000000"/>
              </a:solidFill>
              <a:latin typeface="Calibri Light"/>
              <a:cs typeface="Calibri"/>
            </a:endParaRPr>
          </a:p>
          <a:p>
            <a:pPr marL="171450" indent="-171450" defTabSz="914400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kern="0" dirty="0">
              <a:solidFill>
                <a:srgbClr val="000000"/>
              </a:solidFill>
              <a:latin typeface="Calibri Light"/>
              <a:cs typeface="Calibri"/>
            </a:endParaRPr>
          </a:p>
          <a:p>
            <a:pPr marL="171450" indent="-171450" defTabSz="914400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kern="0" dirty="0">
              <a:solidFill>
                <a:srgbClr val="000000"/>
              </a:solidFill>
              <a:latin typeface="Calibri Light"/>
              <a:cs typeface="Calibri"/>
            </a:endParaRPr>
          </a:p>
          <a:p>
            <a:pPr marL="171450" indent="-171450" defTabSz="914400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kern="0" dirty="0">
              <a:solidFill>
                <a:srgbClr val="002060"/>
              </a:solidFill>
              <a:latin typeface="Calibri Light"/>
              <a:cs typeface="Calibri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600" kern="0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975B23C3-AE58-0289-5F44-CFDBEE8988C1}"/>
              </a:ext>
            </a:extLst>
          </p:cNvPr>
          <p:cNvSpPr/>
          <p:nvPr/>
        </p:nvSpPr>
        <p:spPr>
          <a:xfrm>
            <a:off x="501035" y="767877"/>
            <a:ext cx="3908620" cy="1883987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kern="0" dirty="0">
                <a:solidFill>
                  <a:srgbClr val="002060"/>
                </a:solidFill>
                <a:latin typeface="+mj-lt"/>
                <a:cs typeface="Calibri"/>
              </a:rPr>
              <a:t>Actions/Deliverables Realized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6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DDCAC67E-5CB3-FB06-63CE-1DF9102F28FD}"/>
              </a:ext>
            </a:extLst>
          </p:cNvPr>
          <p:cNvSpPr/>
          <p:nvPr/>
        </p:nvSpPr>
        <p:spPr>
          <a:xfrm>
            <a:off x="4571057" y="2812460"/>
            <a:ext cx="3908620" cy="1883987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kern="0" dirty="0">
                <a:solidFill>
                  <a:srgbClr val="002060"/>
                </a:solidFill>
                <a:latin typeface="+mj-lt"/>
                <a:cs typeface="Calibri"/>
              </a:rPr>
              <a:t>Support Requested / Topics to Highlight</a:t>
            </a:r>
          </a:p>
          <a:p>
            <a:pPr marR="0" lvl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 Light"/>
              <a:cs typeface="Calibri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600" kern="0">
              <a:solidFill>
                <a:srgbClr val="00206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625070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?mso-contentType ?>
<SharedContentType xmlns="Microsoft.SharePoint.Taxonomy.ContentTypeSync" SourceId="e40374fb-a6cc-4854-989f-c1d94a7967ee" ContentTypeId="0x01" PreviousValue="false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5231c9-692d-4c4d-8861-44d135753769">
      <Terms xmlns="http://schemas.microsoft.com/office/infopath/2007/PartnerControls"/>
    </lcf76f155ced4ddcb4097134ff3c332f>
    <TaxCatchAll xmlns="6e376577-4de9-4016-9bf4-eccd7b323b5a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F778A08BF8B146B4B773926BCF3058" ma:contentTypeVersion="18" ma:contentTypeDescription="Create a new document." ma:contentTypeScope="" ma:versionID="7b890135eb8e2a8d91591daea48a786b">
  <xsd:schema xmlns:xsd="http://www.w3.org/2001/XMLSchema" xmlns:xs="http://www.w3.org/2001/XMLSchema" xmlns:p="http://schemas.microsoft.com/office/2006/metadata/properties" xmlns:ns2="f05231c9-692d-4c4d-8861-44d135753769" xmlns:ns3="6e376577-4de9-4016-9bf4-eccd7b323b5a" targetNamespace="http://schemas.microsoft.com/office/2006/metadata/properties" ma:root="true" ma:fieldsID="cbf34f65a6d86d428bb63202d5f559e4" ns2:_="" ns3:_="">
    <xsd:import namespace="f05231c9-692d-4c4d-8861-44d135753769"/>
    <xsd:import namespace="6e376577-4de9-4016-9bf4-eccd7b323b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231c9-692d-4c4d-8861-44d1357537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376577-4de9-4016-9bf4-eccd7b323b5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d100f1c-709f-4c24-b5b6-ce60fb4cea13}" ma:internalName="TaxCatchAll" ma:showField="CatchAllData" ma:web="6e376577-4de9-4016-9bf4-eccd7b323b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TemplafyTemplateConfiguration><![CDATA[{"elementsMetadata":[],"transformationConfigurations":[],"templateName":"Philips Master Template (updated margins)","templateDescription":"","enableDocumentContentUpdater":false,"version":"2.0"}]]></TemplafyTemplate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8FF650-907C-428F-AD7B-6BA9D849A6CB}">
  <ds:schemaRefs/>
</ds:datastoreItem>
</file>

<file path=customXml/itemProps2.xml><?xml version="1.0" encoding="utf-8"?>
<ds:datastoreItem xmlns:ds="http://schemas.openxmlformats.org/officeDocument/2006/customXml" ds:itemID="{4665FA8A-4ABB-41BD-9B08-3F29B93E57A6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D6A8C414-5618-4FF8-BBBF-FAC5BEACD4D5}">
  <ds:schemaRefs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f05231c9-692d-4c4d-8861-44d135753769"/>
    <ds:schemaRef ds:uri="http://schemas.microsoft.com/office/infopath/2007/PartnerControls"/>
    <ds:schemaRef ds:uri="6e376577-4de9-4016-9bf4-eccd7b323b5a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A5E27893-6A1C-4A5F-98C6-12021B5C175D}">
  <ds:schemaRefs>
    <ds:schemaRef ds:uri="6e376577-4de9-4016-9bf4-eccd7b323b5a"/>
    <ds:schemaRef ds:uri="f05231c9-692d-4c4d-8861-44d13575376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BFBCB3F7-860C-40CC-8532-A042390E68D6}">
  <ds:schemaRefs/>
</ds:datastoreItem>
</file>

<file path=customXml/itemProps6.xml><?xml version="1.0" encoding="utf-8"?>
<ds:datastoreItem xmlns:ds="http://schemas.openxmlformats.org/officeDocument/2006/customXml" ds:itemID="{D42120EC-0106-45C1-BC76-6BF6EC889B3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164</Words>
  <Application>Microsoft Office PowerPoint</Application>
  <PresentationFormat>On-screen Show (16:9)</PresentationFormat>
  <Paragraphs>54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Slide Master Only: November 2024</vt:lpstr>
      <vt:lpstr>Department name| Performance Pulse update September 2026 Update</vt:lpstr>
      <vt:lpstr>2x2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/>
  <cp:keywords/>
  <dc:description/>
  <cp:lastModifiedBy>Pon N, Krithikha</cp:lastModifiedBy>
  <cp:revision>578</cp:revision>
  <dcterms:created xsi:type="dcterms:W3CDTF">2026-02-17T14:20:46Z</dcterms:created>
  <dcterms:modified xsi:type="dcterms:W3CDTF">2026-10-30T15:33:02Z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2026-02-13T04:51:36</vt:lpwstr>
  </property>
  <property fmtid="{D5CDD505-2E9C-101B-9397-08002B2CF9AE}" pid="3" name="TemplafyTenantId">
    <vt:lpwstr>philips</vt:lpwstr>
  </property>
  <property fmtid="{D5CDD505-2E9C-101B-9397-08002B2CF9AE}" pid="4" name="TemplafyTemplateId">
    <vt:lpwstr>1387266663660127309</vt:lpwstr>
  </property>
  <property fmtid="{D5CDD505-2E9C-101B-9397-08002B2CF9AE}" pid="5" name="TemplafyUserProfileId">
    <vt:lpwstr>971661576153333781</vt:lpwstr>
  </property>
  <property fmtid="{D5CDD505-2E9C-101B-9397-08002B2CF9AE}" pid="6" name="TemplafyFromBlank">
    <vt:bool>true</vt:bool>
  </property>
  <property fmtid="{D5CDD505-2E9C-101B-9397-08002B2CF9AE}" pid="7" name="ContentTypeId">
    <vt:lpwstr>0x010100CAF778A08BF8B146B4B773926BCF3058</vt:lpwstr>
  </property>
  <property fmtid="{D5CDD505-2E9C-101B-9397-08002B2CF9AE}" pid="8" name="MediaServiceImageTags">
    <vt:lpwstr/>
  </property>
</Properties>
</file>